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9" r:id="rId9"/>
    <p:sldId id="270" r:id="rId10"/>
    <p:sldId id="263" r:id="rId11"/>
    <p:sldId id="271" r:id="rId12"/>
    <p:sldId id="272" r:id="rId13"/>
    <p:sldId id="265" r:id="rId14"/>
    <p:sldId id="266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6461448859590229E-2"/>
          <c:y val="5.9917458181361773E-2"/>
          <c:w val="0.89577369325927281"/>
          <c:h val="0.703166207317064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A100 (CUB)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10M</c:v>
                </c:pt>
                <c:pt idx="1">
                  <c:v>100M</c:v>
                </c:pt>
                <c:pt idx="2">
                  <c:v>1B</c:v>
                </c:pt>
                <c:pt idx="3">
                  <c:v>2B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1.5100000000000001E-3</c:v>
                </c:pt>
                <c:pt idx="1">
                  <c:v>5.1700000000000001E-3</c:v>
                </c:pt>
                <c:pt idx="2">
                  <c:v>0.73399999999999999</c:v>
                </c:pt>
                <c:pt idx="3">
                  <c:v>1.4359999999999999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8C-44F9-A666-91ACBD3C37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CPU 64T (LSD Out)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10M</c:v>
                </c:pt>
                <c:pt idx="1">
                  <c:v>100M</c:v>
                </c:pt>
                <c:pt idx="2">
                  <c:v>1B</c:v>
                </c:pt>
                <c:pt idx="3">
                  <c:v>2B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6.8000000000000005E-2</c:v>
                </c:pt>
                <c:pt idx="1">
                  <c:v>0.24299999999999999</c:v>
                </c:pt>
                <c:pt idx="2">
                  <c:v>1.456</c:v>
                </c:pt>
                <c:pt idx="3">
                  <c:v>3.427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8C-44F9-A666-91ACBD3C3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50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2D4B-D45C-A15A-4E82-B0380F83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6A04B-64AC-2FA8-63F2-A6222E137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16BDA-6035-5569-90A1-96D11CE6D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99C5-8783-3A4F-A336-AAB790F23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22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22DE-30F4-9D08-C057-8A6DD4D0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79B31-7CB5-7481-5219-1D4FA2E81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BDA79-4300-F94B-3150-15E7F826C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8ED8D-325D-06B7-0045-8BA841A08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51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F781-E248-7BCD-465A-F1F89BB3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9A963-60B7-0BE4-7E1E-F2AEBC741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9E1F9-3C9D-5826-C08F-E6F28B8A8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3BCEF-FC9A-0844-F454-CA3599169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3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CA99-0073-2378-CD3A-0DC1DD95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5099F-5C01-4822-9BB2-8F56D2EDB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A6561-1947-1C0A-D0CF-F02449DAD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A9E5-E08D-62B0-6E6E-8F585CD72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36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Analisi Prestazionale del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Radix Sort Parallelo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83887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</a:rPr>
              <a:t>Confronto tra Architetture Multi-core CPU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</a:rPr>
              <a:t>e Many-core GPU in Ambienti CUDA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0F0"/>
                </a:solidFill>
              </a:rPr>
              <a:t>Leonardo Bacciocchi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77D2408-6A42-EB10-70FD-FE4B5BF40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638" y="507682"/>
            <a:ext cx="30067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007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Obiettivi dello Studio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9113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9113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</a:rPr>
              <a:t>Implementazione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0" y="12314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Sviluppo di diverse varianti parallele del Radix Sort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8257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8257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</a:rPr>
              <a:t>Comparazione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71600" y="21458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Confronto sistematico tra architetture CPU e GPU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7401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01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</a:rPr>
              <a:t>Analisi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71600" y="30602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Valutazione di efficienza, scalabilità e prestazioni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36545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6545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</a:rPr>
              <a:t>Validazione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1600" y="39746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Test su Cluster HPC UNIPR con dataset fino a 5B elementi</a:t>
            </a:r>
            <a:endParaRPr lang="en-US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1AD03982-6830-B73F-4ECD-A75FF79A9ADA}"/>
              </a:ext>
            </a:extLst>
          </p:cNvPr>
          <p:cNvGrpSpPr>
            <a:grpSpLocks/>
          </p:cNvGrpSpPr>
          <p:nvPr/>
        </p:nvGrpSpPr>
        <p:grpSpPr bwMode="auto">
          <a:xfrm>
            <a:off x="0" y="4505691"/>
            <a:ext cx="9144000" cy="766763"/>
            <a:chOff x="0" y="6159398"/>
            <a:chExt cx="9144000" cy="766760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CB46BBD8-7656-1F9C-E84F-D9F7B789D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5C16F10E-B265-072A-1674-09AC81E7C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Ambiente di Test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876552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1020979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💻 Workstation Locale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87647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CPU: AMD Ryzen 7 8845HS (16 thread)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GPU: NVIDIA RTX 4060 (8GB)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RAM: 16 GB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OS: Ubuntu 24.04 LTS (WSL2)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72161"/>
            <a:ext cx="411480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937760" y="1020979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🖥️ Cluster HPC UNIPR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86739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CPU: Dual-socket (64 thread)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GPU: 4× NVIDIA A100 80GB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Bandwidth: 1935 GB/s (HBM2)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423073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285038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📊 Dataset di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2332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Interi uint32_t casuali con distribuzione uniforme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Dimensioni: 10K → 1M → 10M → 100M → 1B → 2B → 5B elementi</a:t>
            </a:r>
            <a:endParaRPr lang="en-US" sz="1200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07E921F1-198F-178B-2663-2DC914279C26}"/>
              </a:ext>
            </a:extLst>
          </p:cNvPr>
          <p:cNvGrpSpPr>
            <a:grpSpLocks/>
          </p:cNvGrpSpPr>
          <p:nvPr/>
        </p:nvGrpSpPr>
        <p:grpSpPr bwMode="auto">
          <a:xfrm>
            <a:off x="0" y="4387001"/>
            <a:ext cx="9144000" cy="766763"/>
            <a:chOff x="0" y="6159398"/>
            <a:chExt cx="9144000" cy="766760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0D4053F-7AA2-7DC8-C48D-AE2F42F4F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CE1C5AC9-1FDA-98D1-930F-567110710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17" y="8720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Radix Sort: Fondamenti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48117" y="818721"/>
            <a:ext cx="3840480" cy="350373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30997" y="1093041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F3C7E"/>
                </a:solidFill>
              </a:rPr>
              <a:t>Algoritmo</a:t>
            </a:r>
            <a:r>
              <a:rPr lang="en-US" sz="1600" b="1" dirty="0">
                <a:solidFill>
                  <a:srgbClr val="2F3C7E"/>
                </a:solidFill>
              </a:rPr>
              <a:t> Non Comparativo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97" y="1381866"/>
            <a:ext cx="3474720" cy="2728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Complessità: O(d·(</a:t>
            </a:r>
            <a:r>
              <a:rPr lang="en-US" dirty="0" err="1">
                <a:solidFill>
                  <a:srgbClr val="333333"/>
                </a:solidFill>
              </a:rPr>
              <a:t>n+k</a:t>
            </a:r>
            <a:r>
              <a:rPr lang="en-US" dirty="0">
                <a:solidFill>
                  <a:srgbClr val="333333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       - n = </a:t>
            </a:r>
            <a:r>
              <a:rPr lang="en-US" sz="1600" dirty="0" err="1">
                <a:solidFill>
                  <a:srgbClr val="333333"/>
                </a:solidFill>
              </a:rPr>
              <a:t>numero</a:t>
            </a:r>
            <a:r>
              <a:rPr lang="en-US" sz="1600" dirty="0">
                <a:solidFill>
                  <a:srgbClr val="333333"/>
                </a:solidFill>
              </a:rPr>
              <a:t> </a:t>
            </a:r>
            <a:r>
              <a:rPr lang="en-US" sz="1600" dirty="0" err="1">
                <a:solidFill>
                  <a:srgbClr val="333333"/>
                </a:solidFill>
              </a:rPr>
              <a:t>elementi</a:t>
            </a:r>
            <a:r>
              <a:rPr lang="en-US" sz="1600" dirty="0">
                <a:solidFill>
                  <a:srgbClr val="333333"/>
                </a:solidFill>
              </a:rPr>
              <a:t> da </a:t>
            </a:r>
            <a:r>
              <a:rPr lang="en-US" sz="1600" dirty="0" err="1">
                <a:solidFill>
                  <a:srgbClr val="333333"/>
                </a:solidFill>
              </a:rPr>
              <a:t>ordinare</a:t>
            </a:r>
            <a:r>
              <a:rPr lang="en-US" sz="1600" dirty="0">
                <a:solidFill>
                  <a:srgbClr val="333333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       - d = digit, </a:t>
            </a:r>
            <a:r>
              <a:rPr lang="en-US" sz="1600" dirty="0" err="1">
                <a:solidFill>
                  <a:srgbClr val="333333"/>
                </a:solidFill>
              </a:rPr>
              <a:t>numero</a:t>
            </a:r>
            <a:r>
              <a:rPr lang="en-US" sz="1600" dirty="0">
                <a:solidFill>
                  <a:srgbClr val="333333"/>
                </a:solidFill>
              </a:rPr>
              <a:t> di </a:t>
            </a:r>
            <a:r>
              <a:rPr lang="en-US" sz="1600" dirty="0" err="1">
                <a:solidFill>
                  <a:srgbClr val="333333"/>
                </a:solidFill>
              </a:rPr>
              <a:t>cifre</a:t>
            </a:r>
            <a:r>
              <a:rPr lang="en-US" sz="1600" dirty="0">
                <a:solidFill>
                  <a:srgbClr val="333333"/>
                </a:solidFill>
              </a:rPr>
              <a:t> del 	</a:t>
            </a:r>
            <a:r>
              <a:rPr lang="en-US" sz="1600" dirty="0" err="1">
                <a:solidFill>
                  <a:srgbClr val="333333"/>
                </a:solidFill>
              </a:rPr>
              <a:t>valore</a:t>
            </a:r>
            <a:r>
              <a:rPr lang="en-US" sz="1600" dirty="0">
                <a:solidFill>
                  <a:srgbClr val="333333"/>
                </a:solidFill>
              </a:rPr>
              <a:t> </a:t>
            </a:r>
            <a:r>
              <a:rPr lang="en-US" sz="1600" dirty="0" err="1">
                <a:solidFill>
                  <a:srgbClr val="333333"/>
                </a:solidFill>
              </a:rPr>
              <a:t>massimo</a:t>
            </a:r>
            <a:r>
              <a:rPr lang="en-US" sz="1600" dirty="0">
                <a:solidFill>
                  <a:srgbClr val="333333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       - k = base di </a:t>
            </a:r>
            <a:r>
              <a:rPr lang="en-US" sz="1600" dirty="0" err="1">
                <a:solidFill>
                  <a:srgbClr val="333333"/>
                </a:solidFill>
              </a:rPr>
              <a:t>rappresentazione</a:t>
            </a: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Origine: Herman Hollerith (1890)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Formalizzazione MIT: 1954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37237" y="528187"/>
            <a:ext cx="3840480" cy="18288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0117" y="100160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LSD (Least Significant Digit)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0117" y="1367361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Parte dalla cifra meno significativa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Iterativo, richiede stabilità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37237" y="2493654"/>
            <a:ext cx="3840480" cy="1828800"/>
          </a:xfrm>
          <a:prstGeom prst="rect">
            <a:avLst/>
          </a:prstGeom>
          <a:solidFill>
            <a:srgbClr val="F96167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0117" y="301328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MSD (Most Significant Digit)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0117" y="3379041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Parte dalla cifra più significativa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Divide-et-</a:t>
            </a:r>
            <a:r>
              <a:rPr lang="en-US" sz="1200" dirty="0" err="1">
                <a:solidFill>
                  <a:srgbClr val="FFFFFF"/>
                </a:solidFill>
              </a:rPr>
              <a:t>Impera</a:t>
            </a:r>
            <a:r>
              <a:rPr lang="en-US" sz="1200" dirty="0">
                <a:solidFill>
                  <a:srgbClr val="FFFFFF"/>
                </a:solidFill>
              </a:rPr>
              <a:t>. </a:t>
            </a:r>
            <a:endParaRPr lang="en-US" sz="1200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C49F876-1F23-86F8-19B0-AAE4391EEBA3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124A32C-D463-E3DF-8754-805AB9BA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F35E7918-A9A1-8078-15DC-732D1178A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551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Implementazioni CPU (OpenMP)</a:t>
            </a: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509941"/>
              </p:ext>
            </p:extLst>
          </p:nvPr>
        </p:nvGraphicFramePr>
        <p:xfrm>
          <a:off x="414810" y="857258"/>
          <a:ext cx="8229600" cy="337487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Variante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Struttura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Caratteristiche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LSD Out-of-Place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Stabile, parallelismo data-based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LSD In-Place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Gestione cicli, American Flag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MSD Out-of-Place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Ricorsivo, task-based, early-exit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MSD In-Place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American Flag Sort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PARADIS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Permutazione speculativa + repair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Ibrido MSD-LSD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Hybrid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256 bucket MSD → LSD parallelo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Gruppo 2">
            <a:extLst>
              <a:ext uri="{FF2B5EF4-FFF2-40B4-BE49-F238E27FC236}">
                <a16:creationId xmlns:a16="http://schemas.microsoft.com/office/drawing/2014/main" id="{4D7885C1-0D19-F542-1966-4D46B9146C50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9894FE6D-8C92-4DAD-5058-E371CEF19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33D15D60-F408-BA1C-84CF-A70AB8C83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90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Implementazioni GPU (CUDA)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867772"/>
            <a:ext cx="4114800" cy="2057097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10506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⚡ Thrust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07852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API ad alto livello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Gestione automatica memoria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Ottimizzazione trasparente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Throughput: 1302 M keys/s (2B)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867772"/>
            <a:ext cx="4114800" cy="2057097"/>
          </a:xfrm>
          <a:prstGeom prst="rect">
            <a:avLst/>
          </a:prstGeom>
          <a:solidFill>
            <a:srgbClr val="F96167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937760" y="10506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🔧 CUB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507852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Controllo a basso livello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DoubleBuffer efficiente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Gestione esplicita memoria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Performance: +3-7% vs Thrust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Throughput: 1393 M keys/s (2B)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12858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265461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🔗 Strategia Multi-GPU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288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Divide-Sort-Merge: partizionamento → sort parallelo → comunicazione PCIe → merge iterativo su GPU 0</a:t>
            </a:r>
            <a:endParaRPr lang="en-US" sz="1100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7938396E-AF7E-18A5-0BC2-B0CC5B2E0667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DC1603E-90DD-4B33-C5FF-D751AF13B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90EEE831-1617-3DB0-6101-C5B813086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Risultati CPU: Scaling (100M elementi)</a:t>
            </a:r>
            <a:endParaRPr lang="en-US" dirty="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01ADFD66-EE06-1B7A-B6E7-63D2DB770ABB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7E62BA98-7756-5C67-8F26-1626F01C2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68754C14-73A1-D17F-B533-621FE525E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9FCF060-6626-5881-B0C3-88773AF4F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61" y="914400"/>
            <a:ext cx="8659478" cy="3221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DD79-16A3-95DA-3814-3A270AB6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BA8975-BE93-298C-A0DB-085C2015466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Risultati CPU: Scaling Cluster (100M elementi)</a:t>
            </a:r>
            <a:endParaRPr lang="en-US" dirty="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7E891BC2-CC55-1B24-6EE3-36DC0480EDC4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71727B04-7DC6-3618-E6B1-0A16AF91B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B9A591D4-D756-F42B-9477-AB185B03E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Immagine 6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434BE884-1AE1-EBF9-7A13-BA122F7A2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157" y="914400"/>
            <a:ext cx="5779685" cy="332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5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71D5-AC11-4A82-2CFB-68D60A07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797334-695D-6BE8-5BD8-A7FC3C5A2F7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</a:rPr>
              <a:t>Risultati</a:t>
            </a:r>
            <a:r>
              <a:rPr lang="en-US" b="1" dirty="0">
                <a:solidFill>
                  <a:srgbClr val="1E2761"/>
                </a:solidFill>
              </a:rPr>
              <a:t> GPU: </a:t>
            </a:r>
            <a:r>
              <a:rPr lang="en-US" b="1" dirty="0" err="1">
                <a:solidFill>
                  <a:srgbClr val="1E2761"/>
                </a:solidFill>
              </a:rPr>
              <a:t>Confronto</a:t>
            </a:r>
            <a:r>
              <a:rPr lang="en-US" b="1" dirty="0">
                <a:solidFill>
                  <a:srgbClr val="1E2761"/>
                </a:solidFill>
              </a:rPr>
              <a:t> Cluster e locale (100M elementi)</a:t>
            </a:r>
            <a:endParaRPr lang="en-US" dirty="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CF3FD830-B428-56E2-8907-814952FA43F2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938CC19E-E59A-CB32-1414-8F9E9CD9D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8D1DA05C-7E4C-F7BB-59AE-6FD778BB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" name="Immagine 7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14CA1FB-2668-93E7-6CAB-A722F5F9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394" y="850101"/>
            <a:ext cx="6081212" cy="34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7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GPU vs CPU: Confronto Diretto</a:t>
            </a:r>
            <a:endParaRPr lang="en-US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43498098"/>
              </p:ext>
            </p:extLst>
          </p:nvPr>
        </p:nvGraphicFramePr>
        <p:xfrm>
          <a:off x="640080" y="1188720"/>
          <a:ext cx="7863840" cy="2692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uppo 4">
            <a:extLst>
              <a:ext uri="{FF2B5EF4-FFF2-40B4-BE49-F238E27FC236}">
                <a16:creationId xmlns:a16="http://schemas.microsoft.com/office/drawing/2014/main" id="{D337B86E-3461-D5F8-4BEA-5FCE40996D10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EB0A2934-4C29-1B37-7A7D-96860F261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3BA7163F-E8BC-AF13-B25A-2EC49E906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8ADE-76C9-675E-36AC-C5D8D19B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1940DC-1837-8D13-A677-B597181DC625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</a:rPr>
              <a:t>Risultati</a:t>
            </a:r>
            <a:r>
              <a:rPr lang="en-US" b="1" dirty="0">
                <a:solidFill>
                  <a:srgbClr val="1E2761"/>
                </a:solidFill>
              </a:rPr>
              <a:t> GPU: Scaling </a:t>
            </a:r>
            <a:r>
              <a:rPr lang="en-US" b="1" dirty="0" err="1">
                <a:solidFill>
                  <a:srgbClr val="1E2761"/>
                </a:solidFill>
              </a:rPr>
              <a:t>multigpu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su</a:t>
            </a:r>
            <a:r>
              <a:rPr lang="en-US" b="1" dirty="0">
                <a:solidFill>
                  <a:srgbClr val="1E2761"/>
                </a:solidFill>
              </a:rPr>
              <a:t> 2B </a:t>
            </a:r>
            <a:r>
              <a:rPr lang="en-US" b="1" dirty="0" err="1">
                <a:solidFill>
                  <a:srgbClr val="1E2761"/>
                </a:solidFill>
              </a:rPr>
              <a:t>elementi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endParaRPr lang="en-US" dirty="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C062300-1759-E986-8AC4-637930A2B692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422161F3-6EFD-5CF5-3B66-C7F03B46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7349A6D3-706E-9633-885F-80293AD05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A0EB856-65BE-2152-4093-6A9F6AE10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117" y="861677"/>
            <a:ext cx="6037765" cy="34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01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1533-A8BF-D0A6-63F6-83ADE6CA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27D7A1-BA0A-5CD0-CFA5-28F79316C5B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Throughput: Classifica Finale (2B elementi)</a:t>
            </a:r>
            <a:endParaRPr lang="en-US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7D9976A1-6028-57EC-CA85-6CCE8C590B16}"/>
              </a:ext>
            </a:extLst>
          </p:cNvPr>
          <p:cNvGrpSpPr>
            <a:grpSpLocks/>
          </p:cNvGrpSpPr>
          <p:nvPr/>
        </p:nvGrpSpPr>
        <p:grpSpPr bwMode="auto">
          <a:xfrm>
            <a:off x="0" y="4394358"/>
            <a:ext cx="9144000" cy="766763"/>
            <a:chOff x="0" y="6159398"/>
            <a:chExt cx="9144000" cy="766760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B2CF91C0-90E1-BA3B-8AE8-2A46BF7FD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6B14376E-93C7-BF5C-2BDE-E93F9D559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Immagine 6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D7C3AEF5-ED13-AB29-53AA-544AB33BF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389" y="831771"/>
            <a:ext cx="6115222" cy="34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2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Throughput: Classifica Finale (2B elementi)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63859"/>
              </p:ext>
            </p:extLst>
          </p:nvPr>
        </p:nvGraphicFramePr>
        <p:xfrm>
          <a:off x="1371600" y="1051067"/>
          <a:ext cx="6400800" cy="3200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Configurazione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GPU 1× A100 (CUB)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1.436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</a:rPr>
                        <a:t>1393 M/s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GPU 1× A100 (Thrust)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1.536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1302 M/s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GPU 2× A100 (CUB)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1.882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1063 M/s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GPU 4× A100 (CUB)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2.026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987 M/s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CPU 64T (LSD Out)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3.427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584 M/s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uppo 2">
            <a:extLst>
              <a:ext uri="{FF2B5EF4-FFF2-40B4-BE49-F238E27FC236}">
                <a16:creationId xmlns:a16="http://schemas.microsoft.com/office/drawing/2014/main" id="{4E5DB396-DFDB-55A6-A77C-C63D606679F6}"/>
              </a:ext>
            </a:extLst>
          </p:cNvPr>
          <p:cNvGrpSpPr>
            <a:grpSpLocks/>
          </p:cNvGrpSpPr>
          <p:nvPr/>
        </p:nvGrpSpPr>
        <p:grpSpPr bwMode="auto">
          <a:xfrm>
            <a:off x="0" y="4394358"/>
            <a:ext cx="9144000" cy="766763"/>
            <a:chOff x="0" y="6159398"/>
            <a:chExt cx="9144000" cy="766760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D4AD3F18-F13B-5E44-F98B-FF24DC894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64561899-5612-CC5F-B7E7-011291560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081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✓ GPU dominano su dataset grandi (&gt;10M): 10-200× più veloci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025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✓ CUB offre 3-7% prestazioni superiori vs Thrust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969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✓ Multi-GPU inefficiente per overhead PCIe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912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✓ PARADIS migliore scaling CPU (30× speedup su 64 thread)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856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✓ Break-even point multi-GPU: &gt;10-15B elementi (non testato)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428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3191454-595A-A381-84D2-6363DDF7A5D3}"/>
              </a:ext>
            </a:extLst>
          </p:cNvPr>
          <p:cNvGrpSpPr>
            <a:grpSpLocks/>
          </p:cNvGrpSpPr>
          <p:nvPr/>
        </p:nvGrpSpPr>
        <p:grpSpPr bwMode="auto">
          <a:xfrm>
            <a:off x="0" y="4376737"/>
            <a:ext cx="9144000" cy="766763"/>
            <a:chOff x="0" y="6159398"/>
            <a:chExt cx="9144000" cy="766760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C76F8492-FBF6-AAC1-64C8-2F30DBAF3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9398"/>
              <a:ext cx="9144000" cy="766760"/>
            </a:xfrm>
            <a:prstGeom prst="rect">
              <a:avLst/>
            </a:prstGeom>
            <a:solidFill>
              <a:srgbClr val="005EB8"/>
            </a:solidFill>
            <a:ln w="12701">
              <a:solidFill>
                <a:srgbClr val="41719C"/>
              </a:solidFill>
              <a:miter lim="800000"/>
              <a:headEnd/>
              <a:tailEnd/>
            </a:ln>
          </p:spPr>
          <p:txBody>
            <a:bodyPr anchor="ctr" anchorCtr="1"/>
            <a:lstStyle>
              <a:defPPr>
                <a:defRPr lang="it-IT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it-IT" altLang="it-IT" sz="1800">
                <a:solidFill>
                  <a:srgbClr val="FFFFFF"/>
                </a:solidFill>
              </a:endParaRPr>
            </a:p>
          </p:txBody>
        </p:sp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637096A9-0838-8CE4-B7A5-F2DB467E6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9325" y="6296064"/>
              <a:ext cx="1547448" cy="49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Grazie per l'attenzione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</a:rPr>
              <a:t>Leonardo Bacciocchi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Università degli Studi di Parma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High Performance Computing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PresentationFormat>Presentazione su schermo (16:9)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leonardo bacciocchi</cp:lastModifiedBy>
  <cp:revision>6</cp:revision>
  <dcterms:created xsi:type="dcterms:W3CDTF">2026-01-29T23:08:43Z</dcterms:created>
  <dcterms:modified xsi:type="dcterms:W3CDTF">2026-02-03T13:27:27Z</dcterms:modified>
</cp:coreProperties>
</file>