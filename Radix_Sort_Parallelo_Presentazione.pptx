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LSD Out-Place</c:v>
                </c:pt>
              </c:strCache>
            </c:strRef>
          </c:tx>
          <c:spPr>
            <a:solidFill>
              <a:srgbClr val="F96167"/>
            </a:solidFill>
            <a:ln w="38100" cap="flat">
              <a:solidFill>
                <a:srgbClr val="F9616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1T</c:v>
                  </c:pt>
                  <c:pt idx="1">
                    <c:v>2T</c:v>
                  </c:pt>
                  <c:pt idx="2">
                    <c:v>4T</c:v>
                  </c:pt>
                  <c:pt idx="3">
                    <c:v>8T</c:v>
                  </c:pt>
                  <c:pt idx="4">
                    <c:v>16T</c:v>
                  </c:pt>
                  <c:pt idx="5">
                    <c:v>32T</c:v>
                  </c:pt>
                  <c:pt idx="6">
                    <c:v>64T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2.159</c:v>
                </c:pt>
                <c:pt idx="1">
                  <c:v>1.58</c:v>
                </c:pt>
                <c:pt idx="2">
                  <c:v>1.233</c:v>
                </c:pt>
                <c:pt idx="3">
                  <c:v>0.676</c:v>
                </c:pt>
                <c:pt idx="4">
                  <c:v>0.388</c:v>
                </c:pt>
                <c:pt idx="5">
                  <c:v>0.306</c:v>
                </c:pt>
                <c:pt idx="6">
                  <c:v>0.243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PARADIS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1T</c:v>
                  </c:pt>
                  <c:pt idx="1">
                    <c:v>2T</c:v>
                  </c:pt>
                  <c:pt idx="2">
                    <c:v>4T</c:v>
                  </c:pt>
                  <c:pt idx="3">
                    <c:v>8T</c:v>
                  </c:pt>
                  <c:pt idx="4">
                    <c:v>16T</c:v>
                  </c:pt>
                  <c:pt idx="5">
                    <c:v>32T</c:v>
                  </c:pt>
                  <c:pt idx="6">
                    <c:v>64T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5.034</c:v>
                </c:pt>
                <c:pt idx="1">
                  <c:v>2.606</c:v>
                </c:pt>
                <c:pt idx="2">
                  <c:v>1.565</c:v>
                </c:pt>
                <c:pt idx="3">
                  <c:v>0.826</c:v>
                </c:pt>
                <c:pt idx="4">
                  <c:v>0.449</c:v>
                </c:pt>
                <c:pt idx="5">
                  <c:v>0.237</c:v>
                </c:pt>
                <c:pt idx="6">
                  <c:v>0.167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MSD In-Place</c:v>
                </c:pt>
              </c:strCache>
            </c:strRef>
          </c:tx>
          <c:spPr>
            <a:solidFill>
              <a:srgbClr val="CADCFC"/>
            </a:solidFill>
            <a:ln w="38100" cap="flat">
              <a:solidFill>
                <a:srgbClr val="CADCF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ADCFC"/>
              </a:solidFill>
              <a:ln w="9525" cap="flat">
                <a:solidFill>
                  <a:srgbClr val="CADCF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1T</c:v>
                  </c:pt>
                  <c:pt idx="1">
                    <c:v>2T</c:v>
                  </c:pt>
                  <c:pt idx="2">
                    <c:v>4T</c:v>
                  </c:pt>
                  <c:pt idx="3">
                    <c:v>8T</c:v>
                  </c:pt>
                  <c:pt idx="4">
                    <c:v>16T</c:v>
                  </c:pt>
                  <c:pt idx="5">
                    <c:v>32T</c:v>
                  </c:pt>
                  <c:pt idx="6">
                    <c:v>64T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8.888</c:v>
                </c:pt>
                <c:pt idx="1">
                  <c:v>5.377</c:v>
                </c:pt>
                <c:pt idx="2">
                  <c:v>3.462</c:v>
                </c:pt>
                <c:pt idx="3">
                  <c:v>2.622</c:v>
                </c:pt>
                <c:pt idx="4">
                  <c:v>1.903</c:v>
                </c:pt>
                <c:pt idx="5">
                  <c:v>1.561</c:v>
                </c:pt>
                <c:pt idx="6">
                  <c:v>2.218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 A100 (CUB)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10M</c:v>
                  </c:pt>
                  <c:pt idx="1">
                    <c:v>100M</c:v>
                  </c:pt>
                  <c:pt idx="2">
                    <c:v>1B</c:v>
                  </c:pt>
                  <c:pt idx="3">
                    <c:v>2B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0.00151</c:v>
                </c:pt>
                <c:pt idx="1">
                  <c:v>0.00517</c:v>
                </c:pt>
                <c:pt idx="2">
                  <c:v>0.734</c:v>
                </c:pt>
                <c:pt idx="3">
                  <c:v>1.436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CPU 64T (LSD Out)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10M</c:v>
                  </c:pt>
                  <c:pt idx="1">
                    <c:v>100M</c:v>
                  </c:pt>
                  <c:pt idx="2">
                    <c:v>1B</c:v>
                  </c:pt>
                  <c:pt idx="3">
                    <c:v>2B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0.068</c:v>
                </c:pt>
                <c:pt idx="1">
                  <c:v>0.243</c:v>
                </c:pt>
                <c:pt idx="2">
                  <c:v>1.456</c:v>
                </c:pt>
                <c:pt idx="3">
                  <c:v>3.427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Sort Time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GPU</c:v>
                  </c:pt>
                  <c:pt idx="1">
                    <c:v>2 GPU</c:v>
                  </c:pt>
                  <c:pt idx="2">
                    <c:v>4 GPU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1.436</c:v>
                </c:pt>
                <c:pt idx="1">
                  <c:v>0.689</c:v>
                </c:pt>
                <c:pt idx="2">
                  <c:v>0.749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Communication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GPU</c:v>
                  </c:pt>
                  <c:pt idx="1">
                    <c:v>2 GPU</c:v>
                  </c:pt>
                  <c:pt idx="2">
                    <c:v>4 GPU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0.321</c:v>
                </c:pt>
                <c:pt idx="2">
                  <c:v>0.344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Merge Time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GPU</c:v>
                  </c:pt>
                  <c:pt idx="1">
                    <c:v>2 GPU</c:v>
                  </c:pt>
                  <c:pt idx="2">
                    <c:v>4 GPU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0.036</c:v>
                </c:pt>
                <c:pt idx="2">
                  <c:v>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Analisi Prestazionale del</a:t>
            </a:r>
            <a:endParaRPr lang="en-US" dirty="0"/>
          </a:p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Radix Sort Parallelo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CADCFC"/>
                </a:solidFill>
              </a:rPr>
              <a:t>Confronto tra Architetture Multi-core CPU</a:t>
            </a:r>
            <a:endParaRPr lang="en-US" dirty="0"/>
          </a:p>
          <a:p>
            <a:pPr algn="ctr" indent="0" marL="0">
              <a:buNone/>
            </a:pPr>
            <a:r>
              <a:rPr lang="en-US" dirty="0">
                <a:solidFill>
                  <a:srgbClr val="CADCFC"/>
                </a:solidFill>
              </a:rPr>
              <a:t>e Many-core GPU in Ambienti CUDA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000000"/>
                </a:solidFill>
              </a:rPr>
              <a:t>Leonardo Bacciocchi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Obiettivi dello Studio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13716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F3C7E"/>
                </a:solidFill>
              </a:rPr>
              <a:t>Implementazione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371600" y="16916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Sviluppo di diverse varianti parallele del Radix Sort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F3C7E"/>
                </a:solidFill>
              </a:rPr>
              <a:t>Comparazione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71600" y="2606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Confronto sistematico tra architetture CPU e GPU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32004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F3C7E"/>
                </a:solidFill>
              </a:rPr>
              <a:t>Analisi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71600" y="35204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Valutazione di efficienza, scalabilità e prestazioni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31520" y="4114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371600" y="4114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F3C7E"/>
                </a:solidFill>
              </a:rPr>
              <a:t>Validazione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71600" y="44348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Test su Cluster HPC UNIPR con dataset fino a 5B elementi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Radix Sort: Fondamenti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8404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</a:rPr>
              <a:t>🔢 Algoritmo Non Comparativo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• Complessità: O(d·n)</a:t>
            </a:r>
            <a:endParaRPr lang="en-US" dirty="0"/>
          </a:p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• Origine: Herman Hollerith (1890)</a:t>
            </a:r>
            <a:endParaRPr lang="en-US" dirty="0"/>
          </a:p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• Formalizzazione MIT: 1954</a:t>
            </a:r>
            <a:endParaRPr lang="en-US" dirty="0"/>
          </a:p>
          <a:p>
            <a:pPr indent="0" marL="0">
              <a:buNone/>
            </a:pPr>
            <a:r>
              <a:rPr lang="en-US" dirty="0">
                <a:solidFill>
                  <a:srgbClr val="333333"/>
                </a:solidFill>
              </a:rPr>
              <a:t>• Base digitale delle chiavi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18288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LSD (Least Significant Digit)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Parte dalla cifra meno significativa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Iterativo, richiede stabilità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3108960"/>
            <a:ext cx="3840480" cy="1828800"/>
          </a:xfrm>
          <a:prstGeom prst="rect">
            <a:avLst/>
          </a:prstGeom>
          <a:solidFill>
            <a:srgbClr val="F96167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291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MSD (Most Significant Digit)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Parte dalla cifra più significativa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Divide-et-Impera, parallelizzabile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Ambiente di Test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1645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💻 Workstation Locale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CPU: AMD Ryzen 7 8845HS (16 thread)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GPU: NVIDIA RTX 4060 (8GB)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RAM: 16 GB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• OS: Ubuntu 24.04 LTS (WSL2)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4114800" cy="1645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🖥️ Cluster HPC UNIPR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8288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CPU: Dual-socket (64 thread)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GPU: 4× NVIDIA A100 80GB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Bandwidth: 1935 GB/s (HBM2)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Interconnessione: PCIe (~22 GB/s)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📊 Dataset di Test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Interi uint32_t casuali con distribuzione uniforme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Dimensioni: 10K → 1M → 10M → 100M → 1B → 2B → 5B elementi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Implementazioni CPU (OpenMP)</a:t>
            </a:r>
            <a:endParaRPr lang="en-US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6576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914400"/>
                <a:gridCol w="4572000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Variante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Struttura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Caratteristiche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LSD Out-of-Place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LSD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Out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Stabile, parallelismo data-based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LSD In-Place v2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LSD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Gestione cicli, American Flag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MSD Out-of-Place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MSD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Out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Ricorsivo, task-based, early-exit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MSD In-Place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MSD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American Flag Sort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PARADIS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MSD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Permutazione speculativa + repair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Ibrido MSD-LSD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Hybrid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Out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256 bucket MSD → LSD parallelo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Implementazioni GPU (CUDA)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22860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</a:rPr>
              <a:t>⚡ Thrust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API ad alto livello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Gestione automatica memoria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Sintassi STL-like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Ottimizzazione trasparente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F3C7E"/>
                </a:solidFill>
              </a:rPr>
              <a:t>• Throughput: 1302 M keys/s (2B)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4114800" cy="2286000"/>
          </a:xfrm>
          <a:prstGeom prst="rect">
            <a:avLst/>
          </a:prstGeom>
          <a:solidFill>
            <a:srgbClr val="F96167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🔧 CUB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1828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Controllo a basso livello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DoubleBuffer efficiente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Gestione esplicita memoria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Performance: +3-7% vs Thrust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• Throughput: 1393 M keys/s (2B)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🔗 Strategia Multi-GPU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</a:rPr>
              <a:t>Divide-Sort-Merge: partizionamento → sort parallelo → comunicazione PCIe → merge iterativo su GPU 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Risultati CPU: Scaling (100M elementi)</a:t>
            </a:r>
            <a:endParaRPr lang="en-US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188720"/>
          <a:ext cx="78638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GPU vs CPU: Confronto Diretto</a:t>
            </a:r>
            <a:endParaRPr lang="en-US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188720"/>
          <a:ext cx="78638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🏆 GPU A100: fino a 10.9× più veloce della migliore CPU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Multi-GPU: Overhead Communication</a:t>
            </a:r>
            <a:endParaRPr lang="en-US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188720"/>
          <a:ext cx="78638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43891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6167"/>
                </a:solidFill>
              </a:rPr>
              <a:t>⚠️ Bandwidth PCIe (22 GB/s) limita scaling: 2 GPU → 0.76× speedup, 4 GPU → 0.71× speedup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Throughput: Classifica Finale (2B elementi)</a:t>
            </a:r>
            <a:endParaRPr lang="en-US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188720"/>
          <a:ext cx="640080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1097280"/>
                <a:gridCol w="155448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Configurazione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Tempo (s)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Throughput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</a:rPr>
                        <a:t>🥇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GPU 1× A100 (CUB)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1.436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96167"/>
                          </a:solidFill>
                        </a:rPr>
                        <a:t>1393 M/s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</a:rPr>
                        <a:t>🥈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GPU 1× A100 (Thrust)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1.536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1302 M/s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</a:rPr>
                        <a:t>🥉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GPU 2× A100 (CUB)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1.882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1063 M/s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GPU 4× A100 (CUB)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2.026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987 M/s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CPU 64T (LSD Out)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3.427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584 M/s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Conclusioni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✓ GPU dominano su dataset grandi (&gt;10M): 10-200× più veloci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✓ CUB offre 3-7% prestazioni superiori vs Thrust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✓ Multi-GPU inefficiente per overhead PCIe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✓ PARADIS migliore scaling CPU (30× speedup su 64 thread)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✓ Break-even point multi-GPU: &gt;10-15B elementi (non testato)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4389120"/>
            <a:ext cx="7315200" cy="64008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Throughput massimo: 1.393 miliardi di chiavi/secondo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E2761"/>
                </a:solidFill>
              </a:rPr>
              <a:t>Direzioni Future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1463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Test su dataset &gt;10B per validare break-even multi-GPU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21945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Implementazione su architetture NVLink (bandwidth 600 GB/s)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9260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Estensione a cluster distribuiti (MPI multi-nodo)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🧬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36576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Ottimizzazione per dati non uniformi (skewed distributions)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371600" y="4389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Integrazione in pipeline di data processing reali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Grazie per l'attenzione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Leonardo Bacciocchi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Università degli Studi di Parma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High Performance Computing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2026-01-29T23:08:43Z</dcterms:created>
  <dcterms:modified xsi:type="dcterms:W3CDTF">2026-01-29T23:08:43Z</dcterms:modified>
</cp:coreProperties>
</file>